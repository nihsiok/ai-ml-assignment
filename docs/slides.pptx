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Predicting PM2.5 in Karaganda, Kazakhstan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Eleven machine-learning algorithms, ten-fold validation, four years of daily data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Course:</a:t>
            </a:r>
            <a:r>
              <a:rPr sz="1800">
                <a:solidFill>
                  <a:srgbClr val="0B0B0B"/>
                </a:solidFill>
                <a:latin typeface="Calibri"/>
              </a:rPr>
              <a:t> Artificial Intelligence and Machine Learning, Astana IT University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Case Study Task 1 and the research article, combined into one project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Data: Kazhydromet bulletins 2021-2026, CAMS and ERA5 reanalysis, 1503 modelled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Karaganda is </a:t>
            </a:r>
            <a:r>
              <a:rPr sz="1800" b="1">
                <a:solidFill>
                  <a:srgbClr val="0B0B0B"/>
                </a:solidFill>
                <a:latin typeface="Calibri"/>
              </a:rPr>
              <a:t>first among 70 monitored settlements</a:t>
            </a:r>
            <a:r>
              <a:rPr sz="1800">
                <a:solidFill>
                  <a:srgbClr val="0B0B0B"/>
                </a:solidFill>
                <a:latin typeface="Calibri"/>
              </a:rPr>
              <a:t> of Kazakhstan, and recorded </a:t>
            </a:r>
            <a:r>
              <a:rPr sz="1800" b="1">
                <a:solidFill>
                  <a:srgbClr val="0B0B0B"/>
                </a:solidFill>
                <a:latin typeface="Calibri"/>
              </a:rPr>
              <a:t>244 of the country's 337 high-pollution episodes</a:t>
            </a:r>
            <a:r>
              <a:rPr sz="1800">
                <a:solidFill>
                  <a:srgbClr val="0B0B0B"/>
                </a:solidFill>
                <a:latin typeface="Calibri"/>
              </a:rPr>
              <a:t> in the first half of 2026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Two competing explanations, with very different policy consequences: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Emissions</a:t>
            </a:r>
            <a:r>
              <a:rPr sz="1800">
                <a:solidFill>
                  <a:srgbClr val="0B0B0B"/>
                </a:solidFill>
                <a:latin typeface="Calibri"/>
              </a:rPr>
              <a:t> - respond with fuel substitution and industrial regulation, over a decade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Dispersion</a:t>
            </a:r>
            <a:r>
              <a:rPr sz="1800">
                <a:solidFill>
                  <a:srgbClr val="0B0B0B"/>
                </a:solidFill>
                <a:latin typeface="Calibri"/>
              </a:rPr>
              <a:t> - respond with episode forecasting and heating-load management, within a season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Separating them needs daily data and a model, not annual averages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Complication: the whole national ranking rests on </a:t>
            </a:r>
            <a:r>
              <a:rPr sz="1800" b="1">
                <a:solidFill>
                  <a:srgbClr val="0B0B0B"/>
                </a:solidFill>
                <a:latin typeface="Calibri"/>
              </a:rPr>
              <a:t>two instruments in one district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The calendar alone barely helps: the repeatable annual cycle is only </a:t>
            </a:r>
            <a:r>
              <a:rPr sz="1800" b="1">
                <a:solidFill>
                  <a:srgbClr val="0B0B0B"/>
                </a:solidFill>
                <a:latin typeface="Calibri"/>
              </a:rPr>
              <a:t>6.3 % of daily variance</a:t>
            </a:r>
            <a:r>
              <a:rPr sz="1800">
                <a:solidFill>
                  <a:srgbClr val="0B0B0B"/>
                </a:solidFill>
                <a:latin typeface="Calibri"/>
              </a:rPr>
              <a:t>, against </a:t>
            </a:r>
            <a:r>
              <a:rPr sz="1800" b="1">
                <a:solidFill>
                  <a:srgbClr val="0B0B0B"/>
                </a:solidFill>
                <a:latin typeface="Calibri"/>
              </a:rPr>
              <a:t>89 % synoptic weather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Karaganda leads the national 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2_city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66" y="1417320"/>
            <a:ext cx="826596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Kazhydromet composite score, first half of 2026. Four of the fifteen worst settlements are in the Karaganda region; Almaty ranks seventh.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Literature: what is already established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Coal combustion dominates Kazakh winter emissions</a:t>
            </a:r>
            <a:r>
              <a:rPr sz="1800">
                <a:solidFill>
                  <a:srgbClr val="0B0B0B"/>
                </a:solidFill>
                <a:latin typeface="Calibri"/>
              </a:rPr>
              <a:t> - confirmed by the COVID-19 lockdown natural experiment, where winter peaks survived a collapse in traffic (Baimatova et al., 2022)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Mixing depth is a first-order control</a:t>
            </a:r>
            <a:r>
              <a:rPr sz="1800">
                <a:solidFill>
                  <a:srgbClr val="0B0B0B"/>
                </a:solidFill>
                <a:latin typeface="Calibri"/>
              </a:rPr>
              <a:t> on surface PM2.5 in Almaty (Tursumbayeva et al., 2022) - but Almaty is a mountain basin, Karaganda is flat steppe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Source apportionment</a:t>
            </a:r>
            <a:r>
              <a:rPr sz="1800">
                <a:solidFill>
                  <a:srgbClr val="0B0B0B"/>
                </a:solidFill>
                <a:latin typeface="Calibri"/>
              </a:rPr>
              <a:t> resolves coal, secondary aerosol and industry as leading contributors across Kazakh cities (Tursun et al., 2025)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Boosted tree ensembles</a:t>
            </a:r>
            <a:r>
              <a:rPr sz="1800">
                <a:solidFill>
                  <a:srgbClr val="0B0B0B"/>
                </a:solidFill>
                <a:latin typeface="Calibri"/>
              </a:rPr>
              <a:t> consistently outperform alternatives for PM2.5 prediction (Aman et al., 2025; Makhdoomi et al., 2025)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Gap:</a:t>
            </a:r>
            <a:r>
              <a:rPr sz="1800">
                <a:solidFill>
                  <a:srgbClr val="0B0B0B"/>
                </a:solidFill>
                <a:latin typeface="Calibri"/>
              </a:rPr>
              <a:t> no study covers Karaganda, the worst-ranked settlement in the country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Data and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What it gives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Coverage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Kazhydromet bulletins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 substances, 169 episode days, 105 emitters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 periods, 2021-2026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CAMS reanalysis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Daily PM2.5, PM10, NO2, SO2, CO, 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1503 days, 40 km cell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ERA5 reanalysis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Temperature, wind, pressure, mixing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2083 days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National bulletins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Composite ranking of 70 settlements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2025-2026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Target:</a:t>
            </a:r>
            <a:r>
              <a:rPr sz="1800">
                <a:solidFill>
                  <a:srgbClr val="0B0B0B"/>
                </a:solidFill>
                <a:latin typeface="Calibri"/>
              </a:rPr>
              <a:t> daily mean PM2.5. </a:t>
            </a:r>
            <a:r>
              <a:rPr sz="1800" b="1">
                <a:solidFill>
                  <a:srgbClr val="0B0B0B"/>
                </a:solidFill>
                <a:latin typeface="Calibri"/>
              </a:rPr>
              <a:t>21 predictors</a:t>
            </a:r>
            <a:r>
              <a:rPr sz="1800">
                <a:solidFill>
                  <a:srgbClr val="0B0B0B"/>
                </a:solidFill>
                <a:latin typeface="Calibri"/>
              </a:rPr>
              <a:t>, no pollutant among them.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Engineered: </a:t>
            </a:r>
            <a:r>
              <a:rPr sz="1800" b="1">
                <a:solidFill>
                  <a:srgbClr val="0B0B0B"/>
                </a:solidFill>
                <a:latin typeface="Calibri"/>
              </a:rPr>
              <a:t>ventilation index</a:t>
            </a:r>
            <a:r>
              <a:rPr sz="1800">
                <a:solidFill>
                  <a:srgbClr val="0B0B0B"/>
                </a:solidFill>
                <a:latin typeface="Calibri"/>
              </a:rPr>
              <a:t> (wind x mixing depth), </a:t>
            </a:r>
            <a:r>
              <a:rPr sz="1800" b="1">
                <a:solidFill>
                  <a:srgbClr val="0B0B0B"/>
                </a:solidFill>
                <a:latin typeface="Calibri"/>
              </a:rPr>
              <a:t>heating degree days</a:t>
            </a:r>
            <a:r>
              <a:rPr sz="1800">
                <a:solidFill>
                  <a:srgbClr val="0B0B0B"/>
                </a:solidFill>
                <a:latin typeface="Calibri"/>
              </a:rPr>
              <a:t>, circular sine/cosine encodings of wind direction and day of year.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The two data sources disagree by 20x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4_cams_vs_kazhydro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247" y="1417320"/>
            <a:ext cx="6553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Ground network 119-430 ug/m3, reanalysis 6.9-11.3 for the same quarters. Normalised, they track each other at r = 0.69.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Reconciling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The 40 km reanalysis cell averages the city with open steppe - it </a:t>
            </a:r>
            <a:r>
              <a:rPr sz="1800" b="1">
                <a:solidFill>
                  <a:srgbClr val="0B0B0B"/>
                </a:solidFill>
                <a:latin typeface="Calibri"/>
              </a:rPr>
              <a:t>must underestimate</a:t>
            </a:r>
            <a:r>
              <a:rPr sz="1800">
                <a:solidFill>
                  <a:srgbClr val="0B0B0B"/>
                </a:solidFill>
                <a:latin typeface="Calibri"/>
              </a:rPr>
              <a:t> an urban plume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The ground posts sit in Prishakhtinsk next to coal-burning housing, and report a </a:t>
            </a:r>
            <a:r>
              <a:rPr sz="1800" b="1">
                <a:solidFill>
                  <a:srgbClr val="0B0B0B"/>
                </a:solidFill>
                <a:latin typeface="Calibri"/>
              </a:rPr>
              <a:t>PM2.5/PM10 ratio of 0.90-1.00</a:t>
            </a:r>
            <a:r>
              <a:rPr sz="1800">
                <a:solidFill>
                  <a:srgbClr val="0B0B0B"/>
                </a:solidFill>
                <a:latin typeface="Calibri"/>
              </a:rPr>
              <a:t> against a normal urban 0.5-0.7 - the instrument is not resolving the fractions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An independent commercial estimate for 2024 sits near </a:t>
            </a:r>
            <a:r>
              <a:rPr sz="1800" b="1">
                <a:solidFill>
                  <a:srgbClr val="0B0B0B"/>
                </a:solidFill>
                <a:latin typeface="Calibri"/>
              </a:rPr>
              <a:t>105 ug/m3</a:t>
            </a:r>
            <a:r>
              <a:rPr sz="1800">
                <a:solidFill>
                  <a:srgbClr val="0B0B0B"/>
                </a:solidFill>
                <a:latin typeface="Calibri"/>
              </a:rPr>
              <a:t>, midway on a log scale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Conclusion:</a:t>
            </a:r>
            <a:r>
              <a:rPr sz="1800">
                <a:solidFill>
                  <a:srgbClr val="0B0B0B"/>
                </a:solidFill>
                <a:latin typeface="Calibri"/>
              </a:rPr>
              <a:t> the true annual mean is between roughly 30 and 150 ug/m3, that is </a:t>
            </a:r>
            <a:r>
              <a:rPr sz="1800" b="1">
                <a:solidFill>
                  <a:srgbClr val="0B0B0B"/>
                </a:solidFill>
                <a:latin typeface="Calibri"/>
              </a:rPr>
              <a:t>6 to 30 times the WHO guideline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Timing is trustworthy, absolute level is not - so every claim about level is stated as a range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Table 1: eleven algorithms, ten-fold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RMSE, ug/m3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R2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Ridge / Lasso / 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4.64 - 4.66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KNN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Adaptive Boosting (AdaBoost)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0.22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**CatBoost**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**3.59**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**0.587**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Mean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-0.01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Ensembles beat linear models by 0.26 in R2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8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323" y="1417320"/>
            <a:ext cx="838504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Ten-fold cross-validated RMSE. The gap between the tree ensembles and the linear models is the quantitative statement that the relationship is non-linear.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The methodological finding: shuffling inflates the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1_experim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126" y="1417320"/>
            <a:ext cx="828144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Four validation designs. Blocked chronological validation cuts the best R2 from 0.587 to 0.184.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Why that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A shuffled 10-fold split puts days from </a:t>
            </a:r>
            <a:r>
              <a:rPr sz="1800" b="1">
                <a:solidFill>
                  <a:srgbClr val="0B0B0B"/>
                </a:solidFill>
                <a:latin typeface="Calibri"/>
              </a:rPr>
              <a:t>the same weather episode</a:t>
            </a:r>
            <a:r>
              <a:rPr sz="1800">
                <a:solidFill>
                  <a:srgbClr val="0B0B0B"/>
                </a:solidFill>
                <a:latin typeface="Calibri"/>
              </a:rPr>
              <a:t> on both sides of the partition - the target has a lag-1 autocorrelation of </a:t>
            </a:r>
            <a:r>
              <a:rPr sz="1800" b="1">
                <a:solidFill>
                  <a:srgbClr val="0B0B0B"/>
                </a:solidFill>
                <a:latin typeface="Calibri"/>
              </a:rPr>
              <a:t>0.609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Measured against the matching baseline, skill falls from a </a:t>
            </a:r>
            <a:r>
              <a:rPr sz="1800" b="1">
                <a:solidFill>
                  <a:srgbClr val="0B0B0B"/>
                </a:solidFill>
                <a:latin typeface="Calibri"/>
              </a:rPr>
              <a:t>37.4%</a:t>
            </a:r>
            <a:r>
              <a:rPr sz="1800">
                <a:solidFill>
                  <a:srgbClr val="0B0B0B"/>
                </a:solidFill>
                <a:latin typeface="Calibri"/>
              </a:rPr>
              <a:t> error reduction to </a:t>
            </a:r>
            <a:r>
              <a:rPr sz="1800" b="1">
                <a:solidFill>
                  <a:srgbClr val="0B0B0B"/>
                </a:solidFill>
                <a:latin typeface="Calibri"/>
              </a:rPr>
              <a:t>21.3%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About </a:t>
            </a:r>
            <a:r>
              <a:rPr sz="1800" b="1">
                <a:solidFill>
                  <a:srgbClr val="0B0B0B"/>
                </a:solidFill>
                <a:latin typeface="Calibri"/>
              </a:rPr>
              <a:t>two fifths of the apparent skill is an artefact</a:t>
            </a:r>
            <a:r>
              <a:rPr sz="1800">
                <a:solidFill>
                  <a:srgbClr val="0B0B0B"/>
                </a:solidFill>
                <a:latin typeface="Calibri"/>
              </a:rPr>
              <a:t> of the validation design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Adding lagged pollutant history restores it to </a:t>
            </a:r>
            <a:r>
              <a:rPr sz="1800" b="1">
                <a:solidFill>
                  <a:srgbClr val="0B0B0B"/>
                </a:solidFill>
                <a:latin typeface="Calibri"/>
              </a:rPr>
              <a:t>29.5%</a:t>
            </a:r>
            <a:r>
              <a:rPr sz="1800">
                <a:solidFill>
                  <a:srgbClr val="0B0B0B"/>
                </a:solidFill>
                <a:latin typeface="Calibri"/>
              </a:rPr>
              <a:t> in a genuine next-day forecast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>
                <a:solidFill>
                  <a:srgbClr val="0B0B0B"/>
                </a:solidFill>
                <a:latin typeface="Calibri"/>
              </a:rPr>
              <a:t>Fitting on log(PM2.5) barely changes the ranking, so the result is not an artefact of target skew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Takeaway:</a:t>
            </a:r>
            <a:r>
              <a:rPr sz="1800">
                <a:solidFill>
                  <a:srgbClr val="0B0B0B"/>
                </a:solidFill>
                <a:latin typeface="Calibri"/>
              </a:rPr>
              <a:t> report the shuffled score as an upper bound; the blocked check costs one extra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What the model learned - and an independent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0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64" y="1417320"/>
            <a:ext cx="9276167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Permutation importance: the ventilation index outranks both of its own constituents.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Measured episodes confirm the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/>
                        <a:t>Heating-season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Ordinary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High-pollution days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Mean temperature,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-11.1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Mean wind speed,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Minimum mixing depth,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Surface pressure, hPa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956.8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961.8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106984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The two variables the model relies on most are the two that separate </a:t>
            </a:r>
            <a:r>
              <a:rPr sz="1800" b="1">
                <a:solidFill>
                  <a:srgbClr val="0B0B0B"/>
                </a:solidFill>
                <a:latin typeface="Calibri"/>
              </a:rPr>
              <a:t>169 instrument-measured episodes</a:t>
            </a:r>
            <a:r>
              <a:rPr sz="1800">
                <a:solidFill>
                  <a:srgbClr val="0B0B0B"/>
                </a:solidFill>
                <a:latin typeface="Calibri"/>
              </a:rPr>
              <a:t> from ordinary days.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B0B0B"/>
                </a:solidFill>
                <a:latin typeface="Calibri"/>
              </a:rPr>
              <a:t>High pressure, hard frost, calm, a mixing layer tens of metres deep: a textbook surface inversion. Flat steppe traps pollution as effectively as Almaty's mountain basin.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The season sets the level, the weather picks the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5_vz_days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8" y="1417320"/>
            <a:ext cx="1013427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2514E"/>
                </a:solidFill>
              </a:rPr>
              <a:t>169 measured high-pollution days by month, 2021-2025. Sixty per cent fall in December, January and February, none at all between May and August - yet within the cold season the annual cycle explains only 6.3 % of daily variance and the weather 89 %.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Now:</a:t>
            </a:r>
            <a:r>
              <a:rPr sz="1800">
                <a:solidFill>
                  <a:srgbClr val="0B0B0B"/>
                </a:solidFill>
                <a:latin typeface="Calibri"/>
              </a:rPr>
              <a:t> build an episode forecasting service - free data, open-source tools, roughly 30% error reduction. Trigger: forecast wind below 8 km/h with mixing depth below 50 m in the heating season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Now:</a:t>
            </a:r>
            <a:r>
              <a:rPr sz="1800">
                <a:solidFill>
                  <a:srgbClr val="0B0B0B"/>
                </a:solidFill>
                <a:latin typeface="Calibri"/>
              </a:rPr>
              <a:t> deploy 20 calibrated low-cost sensors. Karaganda has 2, Almaty has 153. This resolves more uncertainty than any further analysis of the existing record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Now:</a:t>
            </a:r>
            <a:r>
              <a:rPr sz="1800">
                <a:solidFill>
                  <a:srgbClr val="0B0B0B"/>
                </a:solidFill>
                <a:latin typeface="Calibri"/>
              </a:rPr>
              <a:t> fix the reference instruments - the PM2.5/PM10 ratio anomaly undermines the numbers the national ranking rests 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3-5 years:</a:t>
            </a:r>
            <a:r>
              <a:rPr sz="1800">
                <a:solidFill>
                  <a:srgbClr val="0B0B0B"/>
                </a:solidFill>
                <a:latin typeface="Calibri"/>
              </a:rPr>
              <a:t> target domestic coal burning in Prishakhtinsk; regulate ash and volatile content of household coal; require continuous stack monitoring at the largest emitters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A78D6"/>
                </a:solidFill>
              </a:rPr>
              <a:t>- </a:t>
            </a:r>
            <a:r>
              <a:rPr sz="1800" b="1">
                <a:solidFill>
                  <a:srgbClr val="0B0B0B"/>
                </a:solidFill>
                <a:latin typeface="Calibri"/>
              </a:rPr>
              <a:t>5-10 years:</a:t>
            </a:r>
            <a:r>
              <a:rPr sz="1800">
                <a:solidFill>
                  <a:srgbClr val="0B0B0B"/>
                </a:solidFill>
                <a:latin typeface="Calibri"/>
              </a:rPr>
              <a:t> decarbonise heat supply, preserve ventilation corridors, converge national limits towards the WHO guidelines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Calibri"/>
              </a:rPr>
              <a:t>Conclusions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>
                <a:solidFill>
                  <a:srgbClr val="0B0B0B"/>
                </a:solidFill>
                <a:latin typeface="Calibri"/>
              </a:rPr>
              <a:t>Meteorology and season explain </a:t>
            </a:r>
            <a:r>
              <a:rPr sz="1400" b="1">
                <a:solidFill>
                  <a:srgbClr val="0B0B0B"/>
                </a:solidFill>
                <a:latin typeface="Calibri"/>
              </a:rPr>
              <a:t>58.7% of daily PM2.5 variance</a:t>
            </a:r>
            <a:r>
              <a:rPr sz="1400">
                <a:solidFill>
                  <a:srgbClr val="0B0B0B"/>
                </a:solidFill>
                <a:latin typeface="Calibri"/>
              </a:rPr>
              <a:t>; CatBoost is best at RMSE </a:t>
            </a:r>
            <a:r>
              <a:rPr sz="1400" b="1">
                <a:solidFill>
                  <a:srgbClr val="0B0B0B"/>
                </a:solidFill>
                <a:latin typeface="Calibri"/>
              </a:rPr>
              <a:t>3.59 ug/m3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>
                <a:solidFill>
                  <a:srgbClr val="0B0B0B"/>
                </a:solidFill>
                <a:latin typeface="Calibri"/>
              </a:rPr>
              <a:t>The calendar alone explains 8%, so nearly all of that signal is weather, not season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>
                <a:solidFill>
                  <a:srgbClr val="0B0B0B"/>
                </a:solidFill>
                <a:latin typeface="Calibri"/>
              </a:rPr>
              <a:t>Karaganda has an </a:t>
            </a:r>
            <a:r>
              <a:rPr sz="1400" b="1">
                <a:solidFill>
                  <a:srgbClr val="0B0B0B"/>
                </a:solidFill>
                <a:latin typeface="Calibri"/>
              </a:rPr>
              <a:t>emission problem expressed through a dispersion bottleneck</a:t>
            </a:r>
            <a:r>
              <a:rPr sz="1400">
                <a:solidFill>
                  <a:srgbClr val="0B0B0B"/>
                </a:solidFill>
                <a:latin typeface="Calibri"/>
              </a:rPr>
              <a:t> - emissions run year-round, the winter anticyclone converts them into episodes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>
                <a:solidFill>
                  <a:srgbClr val="0B0B0B"/>
                </a:solidFill>
                <a:latin typeface="Calibri"/>
              </a:rPr>
              <a:t>The </a:t>
            </a:r>
            <a:r>
              <a:rPr sz="1400" b="1">
                <a:solidFill>
                  <a:srgbClr val="0B0B0B"/>
                </a:solidFill>
                <a:latin typeface="Calibri"/>
              </a:rPr>
              <a:t>ventilation index</a:t>
            </a:r>
            <a:r>
              <a:rPr sz="1400">
                <a:solidFill>
                  <a:srgbClr val="0B0B0B"/>
                </a:solidFill>
                <a:latin typeface="Calibri"/>
              </a:rPr>
              <a:t> is the dominant predictor, confirmed independently by 169 measured episodes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 b="1">
                <a:solidFill>
                  <a:srgbClr val="0B0B0B"/>
                </a:solidFill>
                <a:latin typeface="Calibri"/>
              </a:rPr>
              <a:t>Validation design is not a detail:</a:t>
            </a:r>
            <a:r>
              <a:rPr sz="1400">
                <a:solidFill>
                  <a:srgbClr val="0B0B0B"/>
                </a:solidFill>
                <a:latin typeface="Calibri"/>
              </a:rPr>
              <a:t> shuffled 10-fold overstates generalisation by roughly two fifths on this data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 b="1">
                <a:solidFill>
                  <a:srgbClr val="0B0B0B"/>
                </a:solidFill>
                <a:latin typeface="Calibri"/>
              </a:rPr>
              <a:t>Limitations:</a:t>
            </a:r>
            <a:r>
              <a:rPr sz="1400">
                <a:solidFill>
                  <a:srgbClr val="0B0B0B"/>
                </a:solidFill>
                <a:latin typeface="Calibri"/>
              </a:rPr>
              <a:t> the target is a reanalysis, not a measurement; the model underpredicts above 20 ug/m3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 b="1">
                <a:solidFill>
                  <a:srgbClr val="0B0B0B"/>
                </a:solidFill>
                <a:latin typeface="Calibri"/>
              </a:rPr>
              <a:t>Future work:</a:t>
            </a:r>
            <a:r>
              <a:rPr sz="1400">
                <a:solidFill>
                  <a:srgbClr val="0B0B0B"/>
                </a:solidFill>
                <a:latin typeface="Calibri"/>
              </a:rPr>
              <a:t> kilometre-scale satellite PM2.5 to resolve the urban plume; a quantile objective calibrated on the upper tail that an early-warning system actually needs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 b="1">
                <a:solidFill>
                  <a:srgbClr val="0B0B0B"/>
                </a:solidFill>
                <a:latin typeface="Calibri"/>
              </a:rPr>
              <a:t>Reproducible end to end:</a:t>
            </a:r>
            <a:r>
              <a:rPr sz="1400">
                <a:solidFill>
                  <a:srgbClr val="0B0B0B"/>
                </a:solidFill>
                <a:latin typeface="Calibri"/>
              </a:rPr>
              <a:t> four scripts, no API keys, no manual steps, each ending in assertion-based self-checks that fail loudly rather than emitting wrong numbers silently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A78D6"/>
                </a:solidFill>
              </a:rPr>
              <a:t>- </a:t>
            </a:r>
            <a:r>
              <a:rPr sz="1400">
                <a:solidFill>
                  <a:srgbClr val="0B0B0B"/>
                </a:solidFill>
                <a:latin typeface="Calibri"/>
              </a:rPr>
              <a:t>One data defect found and documented in </a:t>
            </a:r>
            <a:r>
              <a:rPr sz="1400">
                <a:solidFill>
                  <a:srgbClr val="0B0B0B"/>
                </a:solidFill>
                <a:latin typeface="Consolas"/>
              </a:rPr>
              <a:t>KNOWN_ISSUES.md</a:t>
            </a:r>
            <a:r>
              <a:rPr sz="1400">
                <a:solidFill>
                  <a:srgbClr val="0B0B0B"/>
                </a:solidFill>
                <a:latin typeface="Calibri"/>
              </a:rPr>
              <a:t> rather than quietly worked around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