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Air Pollution in Karaganda, Kazakhstan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0B0B0B"/>
                </a:solidFill>
                <a:latin typeface="Calibri"/>
              </a:rPr>
              <a:t>Case Study Task 1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0B0B0B"/>
                </a:solidFill>
                <a:latin typeface="Calibri"/>
              </a:rPr>
              <a:t>Data:</a:t>
            </a:r>
            <a:r>
              <a:rPr sz="1800">
                <a:solidFill>
                  <a:srgbClr val="0B0B0B"/>
                </a:solidFill>
                <a:latin typeface="Calibri"/>
              </a:rPr>
              <a:t> Kazhydromet bulletins 2021-2026, ERA5 and CAMS reanalysis 2021-2026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0B0B0B"/>
                </a:solidFill>
                <a:latin typeface="Calibri"/>
              </a:rPr>
              <a:t>Question:</a:t>
            </a:r>
            <a:r>
              <a:rPr sz="1800">
                <a:solidFill>
                  <a:srgbClr val="0B0B0B"/>
                </a:solidFill>
                <a:latin typeface="Calibri"/>
              </a:rPr>
              <a:t> why is Karaganda the most polluted city in Kazakhstan, and what can be done about it?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>
                <a:solidFill>
                  <a:srgbClr val="0B0B0B"/>
                </a:solidFill>
                <a:latin typeface="Calibri"/>
              </a:rPr>
              <a:t>Karaganda is </a:t>
            </a:r>
            <a:r>
              <a:rPr sz="1800" b="1">
                <a:solidFill>
                  <a:srgbClr val="0B0B0B"/>
                </a:solidFill>
                <a:latin typeface="Calibri"/>
              </a:rPr>
              <a:t>first among 70 monitored settlements</a:t>
            </a:r>
            <a:r>
              <a:rPr sz="1800">
                <a:solidFill>
                  <a:srgbClr val="0B0B0B"/>
                </a:solidFill>
                <a:latin typeface="Calibri"/>
              </a:rPr>
              <a:t> of Kazakhstan by the official Kazhydromet score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>
                <a:solidFill>
                  <a:srgbClr val="0B0B0B"/>
                </a:solidFill>
                <a:latin typeface="Calibri"/>
              </a:rPr>
              <a:t>It recorded </a:t>
            </a:r>
            <a:r>
              <a:rPr sz="1800" b="1">
                <a:solidFill>
                  <a:srgbClr val="0B0B0B"/>
                </a:solidFill>
                <a:latin typeface="Calibri"/>
              </a:rPr>
              <a:t>244 of the country's 337 high-pollution episodes</a:t>
            </a:r>
            <a:r>
              <a:rPr sz="1800">
                <a:solidFill>
                  <a:srgbClr val="0B0B0B"/>
                </a:solidFill>
                <a:latin typeface="Calibri"/>
              </a:rPr>
              <a:t> in the first half of 2026, that is 72 %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>
                <a:solidFill>
                  <a:srgbClr val="0B0B0B"/>
                </a:solidFill>
                <a:latin typeface="Calibri"/>
              </a:rPr>
              <a:t>Coal mining, coal chemistry, ferroalloys, and half a million people heating their homes with coal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>
                <a:solidFill>
                  <a:srgbClr val="0B0B0B"/>
                </a:solidFill>
                <a:latin typeface="Calibri"/>
              </a:rPr>
              <a:t>Two competing explanations, with very different price tags: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 b="1">
                <a:solidFill>
                  <a:srgbClr val="0B0B0B"/>
                </a:solidFill>
                <a:latin typeface="Calibri"/>
              </a:rPr>
              <a:t>Too much is emitted</a:t>
            </a:r>
            <a:r>
              <a:rPr sz="1800">
                <a:solidFill>
                  <a:srgbClr val="0B0B0B"/>
                </a:solidFill>
                <a:latin typeface="Calibri"/>
              </a:rPr>
              <a:t> - fix with fuel substitution and industrial regulation, over a decade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 b="1">
                <a:solidFill>
                  <a:srgbClr val="0B0B0B"/>
                </a:solidFill>
                <a:latin typeface="Calibri"/>
              </a:rPr>
              <a:t>It does not disperse</a:t>
            </a:r>
            <a:r>
              <a:rPr sz="1800">
                <a:solidFill>
                  <a:srgbClr val="0B0B0B"/>
                </a:solidFill>
                <a:latin typeface="Calibri"/>
              </a:rPr>
              <a:t> - fix with episode forecasting and heating-day restrictions, within a season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>
                <a:solidFill>
                  <a:srgbClr val="0B0B0B"/>
                </a:solidFill>
                <a:latin typeface="Calibri"/>
              </a:rPr>
              <a:t>This study separates the two using five years of official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Karaganda leads the national ranking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3_city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866" y="1417320"/>
            <a:ext cx="8265963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52514E"/>
                </a:solidFill>
              </a:rPr>
              <a:t>Composite pollution score, Kazhydromet, first half of 2026. Almaty, which gets most of the public attention, is only seventh.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It is worst on every indicator at once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4_cit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216" y="1417320"/>
            <a:ext cx="9199262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52514E"/>
                </a:solidFill>
              </a:rPr>
              <a:t>Fifteen worst settlements across five indicators. Several cities match Karaganda on one; none matches it on all five.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Data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10698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What it gives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Coverage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Kazhydromet regional bulletins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15 substances, 169 episode days, 105 emitters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24 periods, 2021-2026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Kazhydromet national bulletins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Ranking of 70 settlements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H1 2026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ERA5 reanalysis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Temperature, wind, pressure, mixing 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2083 days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CAMS reanalysis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PM2.5, PM10, NO2, SO2, CO, O3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1503 days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566160"/>
            <a:ext cx="106984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0B0B0B"/>
                </a:solidFill>
                <a:latin typeface="Calibri"/>
              </a:rPr>
              <a:t>All four are public and free. Bulletins were parsed from PDF; the reanalysis came from the Open-Meteo API.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0B0B0B"/>
                </a:solidFill>
                <a:latin typeface="Calibri"/>
              </a:rPr>
              <a:t>Caveat stated up front:</a:t>
            </a:r>
            <a:r>
              <a:rPr sz="1800">
                <a:solidFill>
                  <a:srgbClr val="0B0B0B"/>
                </a:solidFill>
                <a:latin typeface="Calibri"/>
              </a:rPr>
              <a:t> ground posts report 119-430 ug/m3 where the reanalysis reports 6.9-11.3. Normalised, the two agree at r = 0.69. </a:t>
            </a:r>
            <a:r>
              <a:rPr sz="1800" b="1">
                <a:solidFill>
                  <a:srgbClr val="0B0B0B"/>
                </a:solidFill>
                <a:latin typeface="Calibri"/>
              </a:rPr>
              <a:t>Timing is reliable, absolute level is not</a:t>
            </a:r>
            <a:r>
              <a:rPr sz="1800">
                <a:solidFill>
                  <a:srgbClr val="0B0B0B"/>
                </a:solidFill>
                <a:latin typeface="Calibri"/>
              </a:rPr>
              <a:t> - so every level in this report is given as a range.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Key finding 1: it is a particulate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7_pollutan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126" y="1417320"/>
            <a:ext cx="9179442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52514E"/>
                </a:solidFill>
              </a:rPr>
              <a:t>Average exceedance of the Kazakh 24-hour limit, 16 quarters. PM2.5 is 5.6 times over; the tall-stack gases are under.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Key finding 1, in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 b="1">
                <a:solidFill>
                  <a:srgbClr val="0B0B0B"/>
                </a:solidFill>
                <a:latin typeface="Calibri"/>
              </a:rPr>
              <a:t>PM2.5 averages 5.6x</a:t>
            </a:r>
            <a:r>
              <a:rPr sz="1800">
                <a:solidFill>
                  <a:srgbClr val="0B0B0B"/>
                </a:solidFill>
                <a:latin typeface="Calibri"/>
              </a:rPr>
              <a:t> the Kazakh 24-hour limit, one measurement hit </a:t>
            </a:r>
            <a:r>
              <a:rPr sz="1800" b="1">
                <a:solidFill>
                  <a:srgbClr val="0B0B0B"/>
                </a:solidFill>
                <a:latin typeface="Calibri"/>
              </a:rPr>
              <a:t>40.9x</a:t>
            </a:r>
            <a:r>
              <a:rPr sz="1800">
                <a:solidFill>
                  <a:srgbClr val="0B0B0B"/>
                </a:solidFill>
                <a:latin typeface="Calibri"/>
              </a:rPr>
              <a:t> the short-term limit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 b="1">
                <a:solidFill>
                  <a:srgbClr val="0B0B0B"/>
                </a:solidFill>
                <a:latin typeface="Calibri"/>
              </a:rPr>
              <a:t>100 % of samples</a:t>
            </a:r>
            <a:r>
              <a:rPr sz="1800">
                <a:solidFill>
                  <a:srgbClr val="0B0B0B"/>
                </a:solidFill>
                <a:latin typeface="Calibri"/>
              </a:rPr>
              <a:t> have been above the limit since 2022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>
                <a:solidFill>
                  <a:srgbClr val="0B0B0B"/>
                </a:solidFill>
                <a:latin typeface="Calibri"/>
              </a:rPr>
              <a:t>PM10 follows at 3.4x; phenol is the only gas with a constant exceedance, pointing at coal chemistry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 b="1">
                <a:solidFill>
                  <a:srgbClr val="0B0B0B"/>
                </a:solidFill>
                <a:latin typeface="Calibri"/>
              </a:rPr>
              <a:t>SO2, NO2 and CO stay below their limits</a:t>
            </a:r>
            <a:r>
              <a:rPr sz="1800">
                <a:solidFill>
                  <a:srgbClr val="0B0B0B"/>
                </a:solidFill>
                <a:latin typeface="Calibri"/>
              </a:rPr>
              <a:t> - that is the signature of low-level sources, not tall stacks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>
                <a:solidFill>
                  <a:srgbClr val="0B0B0B"/>
                </a:solidFill>
                <a:latin typeface="Calibri"/>
              </a:rPr>
              <a:t>Against the WHO guideline of 5 ug/m3 a year, Karaganda runs at </a:t>
            </a:r>
            <a:r>
              <a:rPr sz="1800" b="1">
                <a:solidFill>
                  <a:srgbClr val="0B0B0B"/>
                </a:solidFill>
                <a:latin typeface="Calibri"/>
              </a:rPr>
              <a:t>6 to 30 times</a:t>
            </a:r>
            <a:r>
              <a:rPr sz="1800">
                <a:solidFill>
                  <a:srgbClr val="0B0B0B"/>
                </a:solidFill>
                <a:latin typeface="Calibri"/>
              </a:rPr>
              <a:t> over, depending on which of the two badly reconciled sources you trust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Key finding 2: all the risk is in the cold season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5_episodes_by_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8" y="1417320"/>
            <a:ext cx="10134278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52514E"/>
                </a:solidFill>
              </a:rPr>
              <a:t>169 measured high-pollution days by month, 2021-2025. Sixty per cent fall in December to February; none at all between May and August.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Key finding 3: the weather decides the 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6_episode_weat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41159" y="1417320"/>
            <a:ext cx="14074013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52514E"/>
                </a:solidFill>
              </a:rPr>
              <a:t>Weather on episode days against ordinary heating-season days.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Key finding 3, in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10698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/>
                        <a:t>Heating-season 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Ordinary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Episode day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-4.5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-11.1 C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Wind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16.4 km/h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8.3 km/h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Minimum mixing 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135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30 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Surface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956.8 hPa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961.8 hPa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566160"/>
            <a:ext cx="106984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0B0B0B"/>
                </a:solidFill>
                <a:latin typeface="Calibri"/>
              </a:rPr>
              <a:t>High pressure, hard frost, calm air, a mixing layer tens of metres deep: a textbook temperature inversion.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0B0B0B"/>
                </a:solidFill>
                <a:latin typeface="Calibri"/>
              </a:rPr>
              <a:t>Flat steppe traps pollution just as effectively as the mountain basin usually blamed for Almaty's smog.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Key finding 4: the episodes are domestic, not industrial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8_emission_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076" y="1417320"/>
            <a:ext cx="8465542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52514E"/>
                </a:solidFill>
              </a:rPr>
              <a:t>Permitted emitting enterprises by city and district of the Karaganda region.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Why we conclude that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>
                <a:solidFill>
                  <a:srgbClr val="0B0B0B"/>
                </a:solidFill>
                <a:latin typeface="Calibri"/>
              </a:rPr>
              <a:t>The region has </a:t>
            </a:r>
            <a:r>
              <a:rPr sz="1800" b="1">
                <a:solidFill>
                  <a:srgbClr val="0B0B0B"/>
                </a:solidFill>
                <a:latin typeface="Calibri"/>
              </a:rPr>
              <a:t>105 permitted emitters</a:t>
            </a:r>
            <a:r>
              <a:rPr sz="1800">
                <a:solidFill>
                  <a:srgbClr val="0B0B0B"/>
                </a:solidFill>
                <a:latin typeface="Calibri"/>
              </a:rPr>
              <a:t> and 585 thousand tonnes a year from stationary sources - that is the background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>
                <a:solidFill>
                  <a:srgbClr val="0B0B0B"/>
                </a:solidFill>
                <a:latin typeface="Calibri"/>
              </a:rPr>
              <a:t>But </a:t>
            </a:r>
            <a:r>
              <a:rPr sz="1800" b="1">
                <a:solidFill>
                  <a:srgbClr val="0B0B0B"/>
                </a:solidFill>
                <a:latin typeface="Calibri"/>
              </a:rPr>
              <a:t>all 169 episodes</a:t>
            </a:r>
            <a:r>
              <a:rPr sz="1800">
                <a:solidFill>
                  <a:srgbClr val="0B0B0B"/>
                </a:solidFill>
                <a:latin typeface="Calibri"/>
              </a:rPr>
              <a:t> were recorded at posts 6 and 8, both in Prishakhtinsk, a district of low-rise housing with individual coal stoves, not an industrial zone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>
                <a:solidFill>
                  <a:srgbClr val="0B0B0B"/>
                </a:solidFill>
                <a:latin typeface="Calibri"/>
              </a:rPr>
              <a:t>The substance that exceeds limits is </a:t>
            </a:r>
            <a:r>
              <a:rPr sz="1800" b="1">
                <a:solidFill>
                  <a:srgbClr val="0B0B0B"/>
                </a:solidFill>
                <a:latin typeface="Calibri"/>
              </a:rPr>
              <a:t>particles, not stack gases</a:t>
            </a:r>
            <a:r>
              <a:rPr sz="1800">
                <a:solidFill>
                  <a:srgbClr val="0B0B0B"/>
                </a:solidFill>
                <a:latin typeface="Calibri"/>
              </a:rPr>
              <a:t> - a low-level release signature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>
                <a:solidFill>
                  <a:srgbClr val="0B0B0B"/>
                </a:solidFill>
                <a:latin typeface="Calibri"/>
              </a:rPr>
              <a:t>The episodes </a:t>
            </a:r>
            <a:r>
              <a:rPr sz="1800" b="1">
                <a:solidFill>
                  <a:srgbClr val="0B0B0B"/>
                </a:solidFill>
                <a:latin typeface="Calibri"/>
              </a:rPr>
              <a:t>require calm air</a:t>
            </a:r>
            <a:r>
              <a:rPr sz="1800">
                <a:solidFill>
                  <a:srgbClr val="0B0B0B"/>
                </a:solidFill>
                <a:latin typeface="Calibri"/>
              </a:rPr>
              <a:t>, and calm concentrates near-ground emissions specifically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>
                <a:solidFill>
                  <a:srgbClr val="0B0B0B"/>
                </a:solidFill>
                <a:latin typeface="Calibri"/>
              </a:rPr>
              <a:t>Caveat: wind on episode days comes from the south-east twice as often as usual, and the CHP plant lies in that direction, so an industrial share of the peaks is not ruled out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Proposed solutions: 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 b="1">
                <a:solidFill>
                  <a:srgbClr val="0B0B0B"/>
                </a:solidFill>
                <a:latin typeface="Calibri"/>
              </a:rPr>
              <a:t>Episode warning service.</a:t>
            </a:r>
            <a:r>
              <a:rPr sz="1800">
                <a:solidFill>
                  <a:srgbClr val="0B0B0B"/>
                </a:solidFill>
                <a:latin typeface="Calibri"/>
              </a:rPr>
              <a:t> The trigger is readable from an ordinary weather forecast: wind under 8 km/h plus a shallow mixing layer in the heating season. Free data, free tools, could run within one heating season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 b="1">
                <a:solidFill>
                  <a:srgbClr val="0B0B0B"/>
                </a:solidFill>
                <a:latin typeface="Calibri"/>
              </a:rPr>
              <a:t>Act on the warnings:</a:t>
            </a:r>
            <a:r>
              <a:rPr sz="1800">
                <a:solidFill>
                  <a:srgbClr val="0B0B0B"/>
                </a:solidFill>
                <a:latin typeface="Calibri"/>
              </a:rPr>
              <a:t> free public transport on those days, ban open-air burning, postpone industrial maintenance releases, restrict school outdoor activity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 b="1">
                <a:solidFill>
                  <a:srgbClr val="0B0B0B"/>
                </a:solidFill>
                <a:latin typeface="Calibri"/>
              </a:rPr>
              <a:t>Twenty low-cost sensors.</a:t>
            </a:r>
            <a:r>
              <a:rPr sz="1800">
                <a:solidFill>
                  <a:srgbClr val="0B0B0B"/>
                </a:solidFill>
                <a:latin typeface="Calibri"/>
              </a:rPr>
              <a:t> Karaganda has 2, Almaty has 153. This costs a fraction of one reference station and settles whether Prishakhtinsk represents the city or one neighbourhood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 b="1">
                <a:solidFill>
                  <a:srgbClr val="0B0B0B"/>
                </a:solidFill>
                <a:latin typeface="Calibri"/>
              </a:rPr>
              <a:t>Fix the reference instruments.</a:t>
            </a:r>
            <a:r>
              <a:rPr sz="1800">
                <a:solidFill>
                  <a:srgbClr val="0B0B0B"/>
                </a:solidFill>
                <a:latin typeface="Calibri"/>
              </a:rPr>
              <a:t> The PM2.5/PM10 ratio sits at 0.90-1.00 against a normal 0.5-0.7 - the size separation is not working, which undermines the numbers the national ranking rests 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Proposed solutions: 3-10 years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 b="1">
                <a:solidFill>
                  <a:srgbClr val="0B0B0B"/>
                </a:solidFill>
                <a:latin typeface="Calibri"/>
              </a:rPr>
              <a:t>Target household coal in Prishakhtinsk first</a:t>
            </a:r>
            <a:r>
              <a:rPr sz="1800">
                <a:solidFill>
                  <a:srgbClr val="0B0B0B"/>
                </a:solidFill>
                <a:latin typeface="Calibri"/>
              </a:rPr>
              <a:t> - connection to district heating, subsidised low-emission stoves, processed fuel with controlled ash. Pilot it in the catchment of post 8 and measure before and after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 b="1">
                <a:solidFill>
                  <a:srgbClr val="0B0B0B"/>
                </a:solidFill>
                <a:latin typeface="Calibri"/>
              </a:rPr>
              <a:t>Regulate the ash content of coal sold to households</a:t>
            </a:r>
            <a:r>
              <a:rPr sz="1800">
                <a:solidFill>
                  <a:srgbClr val="0B0B0B"/>
                </a:solidFill>
                <a:latin typeface="Calibri"/>
              </a:rPr>
              <a:t> - administrative measure, no capital cost, immediate effect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 b="1">
                <a:solidFill>
                  <a:srgbClr val="0B0B0B"/>
                </a:solidFill>
                <a:latin typeface="Calibri"/>
              </a:rPr>
              <a:t>Continuous stack monitoring</a:t>
            </a:r>
            <a:r>
              <a:rPr sz="1800">
                <a:solidFill>
                  <a:srgbClr val="0B0B0B"/>
                </a:solidFill>
                <a:latin typeface="Calibri"/>
              </a:rPr>
              <a:t> at the largest emitters, publicly disclosed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 b="1">
                <a:solidFill>
                  <a:srgbClr val="0B0B0B"/>
                </a:solidFill>
                <a:latin typeface="Calibri"/>
              </a:rPr>
              <a:t>Decarbonise the heat supply</a:t>
            </a:r>
            <a:r>
              <a:rPr sz="1800">
                <a:solidFill>
                  <a:srgbClr val="0B0B0B"/>
                </a:solidFill>
                <a:latin typeface="Calibri"/>
              </a:rPr>
              <a:t> - gas conversion of the CHP plants, solar-assisted district heating, building retrofit. Nothing else brings the annual mean near the WHO guideline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 b="1">
                <a:solidFill>
                  <a:srgbClr val="0B0B0B"/>
                </a:solidFill>
                <a:latin typeface="Calibri"/>
              </a:rPr>
              <a:t>Preserve ventilation corridors</a:t>
            </a:r>
            <a:r>
              <a:rPr sz="1800">
                <a:solidFill>
                  <a:srgbClr val="0B0B0B"/>
                </a:solidFill>
                <a:latin typeface="Calibri"/>
              </a:rPr>
              <a:t> in city planning, revegetate the spoil heaps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 b="1">
                <a:solidFill>
                  <a:srgbClr val="0B0B0B"/>
                </a:solidFill>
                <a:latin typeface="Calibri"/>
              </a:rPr>
              <a:t>Converge national limits towards the WHO guidelines</a:t>
            </a:r>
            <a:r>
              <a:rPr sz="1800">
                <a:solidFill>
                  <a:srgbClr val="0B0B0B"/>
                </a:solidFill>
                <a:latin typeface="Calibri"/>
              </a:rPr>
              <a:t> on a published schedule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>
                <a:solidFill>
                  <a:srgbClr val="0B0B0B"/>
                </a:solidFill>
                <a:latin typeface="Calibri"/>
              </a:rPr>
              <a:t>Karaganda has an </a:t>
            </a:r>
            <a:r>
              <a:rPr sz="1800" b="1">
                <a:solidFill>
                  <a:srgbClr val="0B0B0B"/>
                </a:solidFill>
                <a:latin typeface="Calibri"/>
              </a:rPr>
              <a:t>emissions problem that becomes dangerous through a dispersion bottleneck</a:t>
            </a:r>
            <a:r>
              <a:rPr sz="1800">
                <a:solidFill>
                  <a:srgbClr val="0B0B0B"/>
                </a:solidFill>
                <a:latin typeface="Calibri"/>
              </a:rPr>
              <a:t> - emissions run all year, the winter anticyclone turns them into episodes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 b="1">
                <a:solidFill>
                  <a:srgbClr val="0B0B0B"/>
                </a:solidFill>
                <a:latin typeface="Calibri"/>
              </a:rPr>
              <a:t>PM2.5 is the problem</a:t>
            </a:r>
            <a:r>
              <a:rPr sz="1800">
                <a:solidFill>
                  <a:srgbClr val="0B0B0B"/>
                </a:solidFill>
                <a:latin typeface="Calibri"/>
              </a:rPr>
              <a:t>, 5.6x the national limit and 6-30x the WHO guideline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 b="1">
                <a:solidFill>
                  <a:srgbClr val="0B0B0B"/>
                </a:solidFill>
                <a:latin typeface="Calibri"/>
              </a:rPr>
              <a:t>Seasonality is absolute:</a:t>
            </a:r>
            <a:r>
              <a:rPr sz="1800">
                <a:solidFill>
                  <a:srgbClr val="0B0B0B"/>
                </a:solidFill>
                <a:latin typeface="Calibri"/>
              </a:rPr>
              <a:t> 169 episodes in five years, none between May and August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 b="1">
                <a:solidFill>
                  <a:srgbClr val="0B0B0B"/>
                </a:solidFill>
                <a:latin typeface="Calibri"/>
              </a:rPr>
              <a:t>Domestic coal burning drives the peaks</a:t>
            </a:r>
            <a:r>
              <a:rPr sz="1800">
                <a:solidFill>
                  <a:srgbClr val="0B0B0B"/>
                </a:solidFill>
                <a:latin typeface="Calibri"/>
              </a:rPr>
              <a:t>, permitted industry sets the background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 b="1">
                <a:solidFill>
                  <a:srgbClr val="0B0B0B"/>
                </a:solidFill>
                <a:latin typeface="Calibri"/>
              </a:rPr>
              <a:t>Cheapest effective action:</a:t>
            </a:r>
            <a:r>
              <a:rPr sz="1800">
                <a:solidFill>
                  <a:srgbClr val="0B0B0B"/>
                </a:solidFill>
                <a:latin typeface="Calibri"/>
              </a:rPr>
              <a:t> an episode warning service on free weather data, running within one season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 b="1">
                <a:solidFill>
                  <a:srgbClr val="0B0B0B"/>
                </a:solidFill>
                <a:latin typeface="Calibri"/>
              </a:rPr>
              <a:t>Biggest obstacle:</a:t>
            </a:r>
            <a:r>
              <a:rPr sz="1800">
                <a:solidFill>
                  <a:srgbClr val="0B0B0B"/>
                </a:solidFill>
                <a:latin typeface="Calibri"/>
              </a:rPr>
              <a:t> two instruments in one district decide the ranking of a city of half a million, and they show a size-separation fault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0B0B0B"/>
                </a:solidFill>
                <a:latin typeface="Calibri"/>
              </a:rP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